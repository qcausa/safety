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2D5B"/>
    <a:srgbClr val="154C5C"/>
    <a:srgbClr val="BEB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76145"/>
  </p:normalViewPr>
  <p:slideViewPr>
    <p:cSldViewPr snapToGrid="0">
      <p:cViewPr varScale="1">
        <p:scale>
          <a:sx n="49" d="100"/>
          <a:sy n="49" d="100"/>
        </p:scale>
        <p:origin x="12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388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, Brenda" userId="1a1c24df-d533-4a19-be13-591e090c4da1" providerId="ADAL" clId="{AF8FA573-DD78-4A04-BAC7-A8C2EAF0FA6C}"/>
    <pc:docChg chg="modSld">
      <pc:chgData name="Young, Brenda" userId="1a1c24df-d533-4a19-be13-591e090c4da1" providerId="ADAL" clId="{AF8FA573-DD78-4A04-BAC7-A8C2EAF0FA6C}" dt="2024-12-03T18:29:14.590" v="106" actId="20577"/>
      <pc:docMkLst>
        <pc:docMk/>
      </pc:docMkLst>
      <pc:sldChg chg="modNotesTx">
        <pc:chgData name="Young, Brenda" userId="1a1c24df-d533-4a19-be13-591e090c4da1" providerId="ADAL" clId="{AF8FA573-DD78-4A04-BAC7-A8C2EAF0FA6C}" dt="2024-12-03T18:29:14.590" v="106" actId="20577"/>
        <pc:sldMkLst>
          <pc:docMk/>
          <pc:sldMk cId="150492302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08360-831C-1C46-A0BB-65780925A5FB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63278-B00C-174E-91FA-265B9238E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52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buFont typeface="+mj-lt"/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week is Older Driver Safety Awareness Week!  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Here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a few tips for 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 mobility:</a:t>
            </a:r>
          </a:p>
          <a:p>
            <a:pPr marL="0" marR="0" lvl="0" indent="0">
              <a:buFont typeface="+mj-lt"/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Proper mirror use and adjustments can reduce blind spots and increase safety on the roadway.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tilt of the steering wheel determines the angle at which the airbag deploys. It should be tilted towards the driver's chest, not face, and a minimum of 10 inches away from the driver.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Wearing a seatbelt correctly reduces the chance of injury in a crash. The seat belt should sit low on the hips and across the shoulder.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in-vehicle safety technology is designed to make driving safer, but it does not replace the important role each of us plays as drivers.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 approaching a flashing Rectangular Flashing Beacon (RRFB) stop at the stop bar pavement marking. Remain stopped until the pedestrian has finished crossing.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High-emphasis crosswalks are designed to increase driver awareness of pedestrians crossing the road.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Learning how to safely use other transportation options, like walking, biking, or riding transit, helps you remain independent beyond driving.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Florida 511 has everything you need to safely plan your route, receive the latest traffic information and urgent alerts.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Bike lane features are designed to increase visibility and enhance the safety of cyclists when sharing the road with drivers and pedestrians.</a:t>
            </a:r>
          </a:p>
          <a:p>
            <a:pPr marL="342900" marR="0" lvl="0" indent="-342900"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Age-friendly communities are considerate of the needs of residents of all ages and abilities and offer a variety of transportation options to safely get from place to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63278-B00C-174E-91FA-265B9238EB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7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bg>
      <p:bgPr>
        <a:solidFill>
          <a:srgbClr val="4A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0F18C0A-5392-430E-ABF4-1545E2D4D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061" y="5429228"/>
            <a:ext cx="1601312" cy="70542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7640898-AA72-4354-9CB3-0B894E67E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6171" y="5511170"/>
            <a:ext cx="1676952" cy="62348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D4D24BC-5CF1-4183-9CEA-8194E5410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000" r="50000"/>
          <a:stretch/>
        </p:blipFill>
        <p:spPr>
          <a:xfrm>
            <a:off x="8763000" y="0"/>
            <a:ext cx="3429000" cy="3429000"/>
          </a:xfrm>
          <a:prstGeom prst="rect">
            <a:avLst/>
          </a:prstGeom>
        </p:spPr>
      </p:pic>
      <p:sp>
        <p:nvSpPr>
          <p:cNvPr id="8" name="Title 12">
            <a:extLst>
              <a:ext uri="{FF2B5EF4-FFF2-40B4-BE49-F238E27FC236}">
                <a16:creationId xmlns:a16="http://schemas.microsoft.com/office/drawing/2014/main" id="{0842B067-C92F-4834-940D-5097BEAE4DDF}"/>
              </a:ext>
            </a:extLst>
          </p:cNvPr>
          <p:cNvSpPr txBox="1">
            <a:spLocks/>
          </p:cNvSpPr>
          <p:nvPr userDrawn="1"/>
        </p:nvSpPr>
        <p:spPr>
          <a:xfrm>
            <a:off x="762000" y="1680794"/>
            <a:ext cx="6329464" cy="191634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ts val="7200"/>
              </a:lnSpc>
            </a:pPr>
            <a:r>
              <a:rPr lang="en-US" sz="6000" dirty="0">
                <a:solidFill>
                  <a:schemeClr val="bg1"/>
                </a:solidFill>
              </a:rPr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56836C-93B7-4ACA-92D1-538D1B63891B}"/>
              </a:ext>
            </a:extLst>
          </p:cNvPr>
          <p:cNvSpPr txBox="1">
            <a:spLocks/>
          </p:cNvSpPr>
          <p:nvPr userDrawn="1"/>
        </p:nvSpPr>
        <p:spPr>
          <a:xfrm>
            <a:off x="762000" y="3805821"/>
            <a:ext cx="5909418" cy="5952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BEB8B4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264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CF559E-0959-4552-BC32-4FC730FE307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1606550"/>
            <a:ext cx="10515600" cy="41243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E3354-B646-4562-8A0B-46A31844B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1030750"/>
            <a:ext cx="12192001" cy="125983"/>
          </a:xfrm>
          <a:prstGeom prst="rect">
            <a:avLst/>
          </a:prstGeom>
        </p:spPr>
      </p:pic>
      <p:sp>
        <p:nvSpPr>
          <p:cNvPr id="10" name="Title 12">
            <a:extLst>
              <a:ext uri="{FF2B5EF4-FFF2-40B4-BE49-F238E27FC236}">
                <a16:creationId xmlns:a16="http://schemas.microsoft.com/office/drawing/2014/main" id="{1E1B5F76-4252-4CCC-83C8-C2B6BCFC3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6"/>
            <a:ext cx="10591800" cy="53679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199784-DBE6-4E30-B781-D1E28AF354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90"/>
          <a:stretch/>
        </p:blipFill>
        <p:spPr>
          <a:xfrm flipV="1">
            <a:off x="-1" y="6222630"/>
            <a:ext cx="12192001" cy="63536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E26AD1-D14D-47E1-92C5-CC47751270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6309267"/>
            <a:ext cx="1012951" cy="44623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12954BA-DBAD-49B0-AE66-1A2752DC180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56113" y="6319900"/>
            <a:ext cx="1110642" cy="41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ing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CF559E-0959-4552-BC32-4FC730FE307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1606550"/>
            <a:ext cx="5067300" cy="40016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E3354-B646-4562-8A0B-46A31844B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1030750"/>
            <a:ext cx="12192001" cy="125983"/>
          </a:xfrm>
          <a:prstGeom prst="rect">
            <a:avLst/>
          </a:prstGeom>
        </p:spPr>
      </p:pic>
      <p:sp>
        <p:nvSpPr>
          <p:cNvPr id="10" name="Title 12">
            <a:extLst>
              <a:ext uri="{FF2B5EF4-FFF2-40B4-BE49-F238E27FC236}">
                <a16:creationId xmlns:a16="http://schemas.microsoft.com/office/drawing/2014/main" id="{F7AEDD33-9C07-400D-8415-186123D9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6"/>
            <a:ext cx="10591800" cy="53679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4DF813-5737-4FAD-B054-E9FFA7A7B0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90"/>
          <a:stretch/>
        </p:blipFill>
        <p:spPr>
          <a:xfrm flipV="1">
            <a:off x="-1" y="6222630"/>
            <a:ext cx="12192001" cy="63536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AA9D51B-95A0-4DB5-ABEC-4183B72053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6309267"/>
            <a:ext cx="1012951" cy="44623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FE2FF05-2F44-463D-9B8D-57CBF36D85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56113" y="6319900"/>
            <a:ext cx="1110642" cy="41293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02F016-9FA2-4057-A2A3-DBE89AB74E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86501" y="1606550"/>
            <a:ext cx="5067300" cy="40016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76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Divider">
    <p:bg>
      <p:bgPr>
        <a:solidFill>
          <a:srgbClr val="15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C700FF-5F8C-4B9A-950A-A6691D1123F7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154C5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AAB81FF-4F7D-457E-96FF-5B051FD28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115" t="10426" b="10424"/>
          <a:stretch/>
        </p:blipFill>
        <p:spPr>
          <a:xfrm>
            <a:off x="-1" y="0"/>
            <a:ext cx="6921795" cy="6858000"/>
          </a:xfrm>
          <a:prstGeom prst="rect">
            <a:avLst/>
          </a:prstGeom>
        </p:spPr>
      </p:pic>
      <p:sp>
        <p:nvSpPr>
          <p:cNvPr id="7" name="Title 12">
            <a:extLst>
              <a:ext uri="{FF2B5EF4-FFF2-40B4-BE49-F238E27FC236}">
                <a16:creationId xmlns:a16="http://schemas.microsoft.com/office/drawing/2014/main" id="{0F5F6273-4EE4-4BE7-B37B-7C77A4D2BB61}"/>
              </a:ext>
            </a:extLst>
          </p:cNvPr>
          <p:cNvSpPr txBox="1">
            <a:spLocks/>
          </p:cNvSpPr>
          <p:nvPr userDrawn="1"/>
        </p:nvSpPr>
        <p:spPr>
          <a:xfrm>
            <a:off x="908256" y="2470824"/>
            <a:ext cx="3362406" cy="191634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09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">
    <p:bg>
      <p:bgPr>
        <a:solidFill>
          <a:srgbClr val="4A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0C1B1AC-064A-412D-9AA5-1CF6C1383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8275"/>
            <a:ext cx="9144000" cy="5972050"/>
          </a:xfrm>
        </p:spPr>
        <p:txBody>
          <a:bodyPr>
            <a:normAutofit/>
          </a:bodyPr>
          <a:lstStyle>
            <a:lvl1pPr algn="ctr"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8B1E9E0-013A-485D-A406-36378D0A5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 r="50000"/>
          <a:stretch/>
        </p:blipFill>
        <p:spPr>
          <a:xfrm rot="16200000">
            <a:off x="0" y="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7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1" r:id="rId2"/>
    <p:sldLayoutId id="2147483671" r:id="rId3"/>
    <p:sldLayoutId id="2147483669" r:id="rId4"/>
    <p:sldLayoutId id="2147483672" r:id="rId5"/>
    <p:sldLayoutId id="2147483667" r:id="rId6"/>
    <p:sldLayoutId id="2147483663" r:id="rId7"/>
    <p:sldLayoutId id="2147483664" r:id="rId8"/>
    <p:sldLayoutId id="214748366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ACEBCB-DC17-43E1-B87D-FEA65546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6076"/>
            <a:ext cx="10591800" cy="53679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Older Driver Safety Awareness Week 2024</a:t>
            </a:r>
          </a:p>
        </p:txBody>
      </p:sp>
      <p:pic>
        <p:nvPicPr>
          <p:cNvPr id="6" name="Content Placeholder 5" descr="A car dashboard with people crossing the street&#10;&#10;Description automatically generated">
            <a:extLst>
              <a:ext uri="{FF2B5EF4-FFF2-40B4-BE49-F238E27FC236}">
                <a16:creationId xmlns:a16="http://schemas.microsoft.com/office/drawing/2014/main" id="{918104D0-7F14-2EF6-1ECA-0803526833BA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rcRect l="2635" t="11392" b="12713"/>
          <a:stretch/>
        </p:blipFill>
        <p:spPr>
          <a:xfrm>
            <a:off x="0" y="882874"/>
            <a:ext cx="12192000" cy="5340505"/>
          </a:xfrm>
        </p:spPr>
      </p:pic>
    </p:spTree>
    <p:extLst>
      <p:ext uri="{BB962C8B-B14F-4D97-AF65-F5344CB8AC3E}">
        <p14:creationId xmlns:p14="http://schemas.microsoft.com/office/powerpoint/2010/main" val="1504923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rget Zero">
      <a:dk1>
        <a:srgbClr val="171616"/>
      </a:dk1>
      <a:lt1>
        <a:sysClr val="window" lastClr="FFFFFF"/>
      </a:lt1>
      <a:dk2>
        <a:srgbClr val="1A485D"/>
      </a:dk2>
      <a:lt2>
        <a:srgbClr val="E7E6E6"/>
      </a:lt2>
      <a:accent1>
        <a:srgbClr val="4A2D5B"/>
      </a:accent1>
      <a:accent2>
        <a:srgbClr val="1A485D"/>
      </a:accent2>
      <a:accent3>
        <a:srgbClr val="E36626"/>
      </a:accent3>
      <a:accent4>
        <a:srgbClr val="655B53"/>
      </a:accent4>
      <a:accent5>
        <a:srgbClr val="BFB9B4"/>
      </a:accent5>
      <a:accent6>
        <a:srgbClr val="CF142B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7BA26143B2274B9ED39C6256FCC0BE" ma:contentTypeVersion="13" ma:contentTypeDescription="Create a new document." ma:contentTypeScope="" ma:versionID="92ae2cb2866543d66682cd77e716affc">
  <xsd:schema xmlns:xsd="http://www.w3.org/2001/XMLSchema" xmlns:xs="http://www.w3.org/2001/XMLSchema" xmlns:p="http://schemas.microsoft.com/office/2006/metadata/properties" xmlns:ns2="dbf75ea0-7b9d-4666-9b34-f92ca412f13a" xmlns:ns3="560bac70-e799-47ae-951b-cfab8832d760" targetNamespace="http://schemas.microsoft.com/office/2006/metadata/properties" ma:root="true" ma:fieldsID="ba607bb502f75a073e4a445438e77afe" ns2:_="" ns3:_="">
    <xsd:import namespace="dbf75ea0-7b9d-4666-9b34-f92ca412f13a"/>
    <xsd:import namespace="560bac70-e799-47ae-951b-cfab8832d7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f75ea0-7b9d-4666-9b34-f92ca412f1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0bac70-e799-47ae-951b-cfab8832d76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0CCED6-293E-4FC8-966C-50FFC68255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f75ea0-7b9d-4666-9b34-f92ca412f13a"/>
    <ds:schemaRef ds:uri="560bac70-e799-47ae-951b-cfab8832d7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ACC670-C694-482E-B83F-BC9A4010EA0C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dbf75ea0-7b9d-4666-9b34-f92ca412f13a"/>
    <ds:schemaRef ds:uri="http://schemas.openxmlformats.org/package/2006/metadata/core-properties"/>
    <ds:schemaRef ds:uri="560bac70-e799-47ae-951b-cfab8832d760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BD10CF7-2911-45D6-AE96-0F387F9F96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1116</TotalTime>
  <Words>271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Older Driver Safety Awareness Week 2024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Larry Hagen</dc:creator>
  <cp:lastModifiedBy>Young, Brenda</cp:lastModifiedBy>
  <cp:revision>12</cp:revision>
  <dcterms:created xsi:type="dcterms:W3CDTF">2021-12-27T16:01:18Z</dcterms:created>
  <dcterms:modified xsi:type="dcterms:W3CDTF">2024-12-03T18:29:16Z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0x010100967BA26143B2274B9ED39C6256FCC0BE</vt:lpwstr>
  </property>
</Properties>
</file>